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9825F-37C6-4452-86F1-C807698A5C6A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52F42-26CA-4AE7-9CAE-164E42553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34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讲到这页时让学生先自己画一遍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E52F42-26CA-4AE7-9CAE-164E425537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6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51E2-3EC5-48DF-E1B8-7879A1DA3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51FB4-B2A2-DAE5-DDAA-0EDA0EAEA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987A1-7758-4EFE-F1BC-21858D28E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806F3-5A31-5A1F-D5AC-47EDA7FA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EBB91-D312-F725-F3EB-336361C5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593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393B-0964-C2C5-BD9C-BED01EB54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CD454-5C89-2B15-C99D-40AB81BF4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4CEAB-C090-5E11-1BD1-461FB2561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BCA8F-EB21-194E-26DD-11CF2599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91759-315C-33B7-10E1-CE73DE64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893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CC92-34C6-B12E-89C4-B1B226745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6200-87FF-6B19-0288-493F4E8A6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D129F-B81A-1B01-30BF-7D15E6CF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993A6-4CFF-2369-2DA4-41ADF2EE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88DF1-21D7-BC4B-E3F9-521E808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34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2AF08-7950-970F-DD4D-F2145F499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E42A9-361C-849B-CE5B-90FFF87897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B3DBA-3EE9-3FF2-3AAD-37CF3EA3A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F0E9C-32E8-67B6-89C7-B57CCAA9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09C07-8F6E-7083-D95E-7DB16632E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9B5B8-6ED7-591C-0721-7A6F1173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98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74C2-0FF3-0480-BA9B-821FB4E28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E76D9-6444-8EC1-6AF0-96D8307CB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C7110-A817-8BF7-5E10-FE91E4838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D28BB-0902-4F32-7DD3-2B999DF0D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AD5F09-4DF4-99BC-B999-55E598BF7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508F99-3258-63AF-BF2A-F6BC5BB34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1BE969-47C1-D3EF-D751-0BA2DB88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3482B7-3FA5-3576-457A-27F09D07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06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2390B-CCD9-65A0-F185-818499621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9B33E6-E02D-322D-8AF1-5D2074B2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FB5D9-6503-D56D-E2EF-ED36E43B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B7ED0-0944-F3B0-0BE9-59CC48D7D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86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ABF24-E14F-1AF4-D4A7-FAF41F8C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46917-1BED-44A0-FF57-8FBDBB9C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CBFA7-C93B-15AB-0F03-B3EFD1B1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13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C153-E257-8CF5-63BC-9BF521004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49ECF-7641-72A2-6A0F-41E50F6F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9D1C9-32F4-87D9-DF6D-EC3886998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3B404-5D4E-9F2C-DC0A-E35F39CE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ED894-1901-1F85-30A9-5B36F3CE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47AA0-E089-2A84-3C26-1D5DF90C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459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E5FD8-52A8-EAF6-2D4C-045624F96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8507D-503D-FFFE-E8F3-33D3B355599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F7161-F95C-01EB-D609-1F5DEC2E3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0DFED-DE8A-E831-D7A8-0D6F031B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097AA-1272-DAC2-381C-749882DFD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6AE67-4095-0977-EE6D-CB4F9C521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970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9041-8ADC-0DCE-174C-D505B4CE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ACA8C-D49F-0DD0-1086-15F8901D5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D5930-20FB-2142-67CF-03D052A5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B4DF-76D7-94BB-7247-25C9BC0E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65286-7EF5-8727-C465-5D12E872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30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66009D-6CA5-9424-9C7E-7980766C22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727BB-F814-28E0-2AF4-7C1C2ACBE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1C236-E1D1-7522-B5C6-B374D3A0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1DAA4-0CC5-58E2-9B64-2D7EFBCF1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CD45E-6B56-E4A9-1831-BD598F28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306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5E2A-556A-0FA3-8D89-53F932E20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0D76B-3070-C09C-4E92-9B5EB6CD2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EAB30-3FAF-0F87-7958-9CA05D004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6D888-7900-5383-B184-FA77B1C5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93D4C-A1F4-6929-6104-55CA3E4E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65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6DA1BB-9B7E-0E07-78FC-AC24FD687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DADE7-4680-69AB-C7EC-429F31F9D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42692-DAFE-2FD6-745B-4F6DF91DA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9FBD2-4706-46B7-B3FC-B7CFBB448D5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699D7-C66E-DE34-0CEC-281B960059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C0C0F-A0E4-AF43-9A62-B58836FCF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C2622-0CEA-45FE-8DEF-FA71ED027F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55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39A28-DBB7-3CF2-629D-ACABBE590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数据结构 第</a:t>
            </a:r>
            <a:r>
              <a:rPr lang="en-US" altLang="zh-CN"/>
              <a:t>3</a:t>
            </a:r>
            <a:r>
              <a:rPr lang="zh-CN" altLang="en-US"/>
              <a:t>章 栈和队列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D4DFF-F4BB-6D63-91FE-AC47851637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主讲：测试老师 </a:t>
            </a:r>
            <a:r>
              <a:rPr lang="en-US" altLang="zh-CN"/>
              <a:t>/ Spring 2026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37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9100-5077-F263-7486-3F380FE1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栈的定义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02019-6F9F-A113-AAC9-B7093C36F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只允许在栈顶插入和删除</a:t>
            </a:r>
          </a:p>
          <a:p>
            <a:pPr lvl="1"/>
            <a:r>
              <a:rPr lang="zh-CN" altLang="en-US"/>
              <a:t>后进先出 </a:t>
            </a:r>
            <a:r>
              <a:rPr lang="en-US" altLang="zh-CN"/>
              <a:t>LIFO</a:t>
            </a:r>
          </a:p>
          <a:p>
            <a:r>
              <a:rPr lang="en-US" altLang="zh-CN"/>
              <a:t>push </a:t>
            </a:r>
            <a:r>
              <a:rPr lang="zh-CN" altLang="en-US"/>
              <a:t>与 </a:t>
            </a:r>
            <a:r>
              <a:rPr lang="en-US" altLang="zh-CN"/>
              <a:t>pop </a:t>
            </a:r>
            <a:r>
              <a:rPr lang="zh-CN" altLang="en-US"/>
              <a:t>都是 </a:t>
            </a:r>
            <a:r>
              <a:rPr lang="en-US" altLang="zh-CN"/>
              <a:t>O(1)</a:t>
            </a:r>
          </a:p>
          <a:p>
            <a:pPr lvl="1"/>
            <a:r>
              <a:rPr lang="zh-CN" altLang="en-US"/>
              <a:t>空栈 </a:t>
            </a:r>
            <a:r>
              <a:rPr lang="en-US" altLang="zh-CN"/>
              <a:t>pop </a:t>
            </a:r>
            <a:r>
              <a:rPr lang="zh-CN" altLang="en-US"/>
              <a:t>会下溢</a:t>
            </a:r>
          </a:p>
        </p:txBody>
      </p:sp>
    </p:spTree>
    <p:extLst>
      <p:ext uri="{BB962C8B-B14F-4D97-AF65-F5344CB8AC3E}">
        <p14:creationId xmlns:p14="http://schemas.microsoft.com/office/powerpoint/2010/main" val="140504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F3DF4-DB62-4BBD-90BA-F574B6CC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常见误区与对比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C9DCA-44E4-41D9-2F5C-A48EC49FED4A}"/>
              </a:ext>
            </a:extLst>
          </p:cNvPr>
          <p:cNvSpPr txBox="1"/>
          <p:nvPr/>
        </p:nvSpPr>
        <p:spPr>
          <a:xfrm>
            <a:off x="508000" y="15240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误区：栈和队列一样是先进先出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C6B8425-8B86-4B06-7F43-E1A6CF6470DB}"/>
              </a:ext>
            </a:extLst>
          </p:cNvPr>
          <p:cNvGrpSpPr/>
          <p:nvPr/>
        </p:nvGrpSpPr>
        <p:grpSpPr>
          <a:xfrm>
            <a:off x="508000" y="2540000"/>
            <a:ext cx="5334000" cy="381000"/>
            <a:chOff x="508000" y="2540000"/>
            <a:chExt cx="5334000" cy="3810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ADFDAB-CD73-8C65-D4D5-028CF5C4575E}"/>
                </a:ext>
              </a:extLst>
            </p:cNvPr>
            <p:cNvSpPr txBox="1"/>
            <p:nvPr/>
          </p:nvSpPr>
          <p:spPr>
            <a:xfrm>
              <a:off x="508000" y="2540000"/>
              <a:ext cx="2540000" cy="381000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zh-CN" altLang="en-US"/>
                <a:t>组合里的文字</a:t>
              </a:r>
              <a:r>
                <a:rPr lang="en-US" altLang="zh-CN"/>
                <a:t>A</a:t>
              </a:r>
              <a:endParaRPr lang="zh-CN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2FFE14-F91D-A5B2-4445-19B346373588}"/>
                </a:ext>
              </a:extLst>
            </p:cNvPr>
            <p:cNvSpPr txBox="1"/>
            <p:nvPr/>
          </p:nvSpPr>
          <p:spPr>
            <a:xfrm>
              <a:off x="3302000" y="2540000"/>
              <a:ext cx="2540000" cy="381000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zh-CN" altLang="en-US"/>
                <a:t>组合里的文字</a:t>
              </a:r>
              <a:r>
                <a:rPr lang="en-US" altLang="zh-CN"/>
                <a:t>B</a:t>
              </a:r>
              <a:endParaRPr lang="zh-CN" altLang="en-US"/>
            </a:p>
          </p:txBody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2AB4FCE-0D51-DB72-C4E7-FFB37F679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770924"/>
              </p:ext>
            </p:extLst>
          </p:nvPr>
        </p:nvGraphicFramePr>
        <p:xfrm>
          <a:off x="508000" y="3556000"/>
          <a:ext cx="5334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87980904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28914370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16196958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zh-CN" altLang="en-US"/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出口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6222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zh-CN" altLang="en-US"/>
                        <a:t>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栈顶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栈顶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8582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zh-CN" altLang="en-US"/>
                        <a:t>队列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队尾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队头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3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10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0FAEE-7E1A-C48F-6E5E-B6E39CA9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出栈序列示意图</a:t>
            </a:r>
          </a:p>
        </p:txBody>
      </p:sp>
      <p:pic>
        <p:nvPicPr>
          <p:cNvPr id="4" name="Picture 3" descr="入栈 1 2 3 的出栈示意">
            <a:extLst>
              <a:ext uri="{FF2B5EF4-FFF2-40B4-BE49-F238E27FC236}">
                <a16:creationId xmlns:a16="http://schemas.microsoft.com/office/drawing/2014/main" id="{A995E87D-677F-9772-A049-7B346490BC7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3048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52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9501-A6E9-39B5-052B-9A0D3CAB3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备用页：拓展阅读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03632-637F-1038-CCA7-158B969D9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双端队列与单调栈</a:t>
            </a:r>
          </a:p>
        </p:txBody>
      </p:sp>
    </p:spTree>
    <p:extLst>
      <p:ext uri="{BB962C8B-B14F-4D97-AF65-F5344CB8AC3E}">
        <p14:creationId xmlns:p14="http://schemas.microsoft.com/office/powerpoint/2010/main" val="1665608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Widescreen</PresentationFormat>
  <Paragraphs>25</Paragraphs>
  <Slides>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Theme</vt:lpstr>
      <vt:lpstr>数据结构 第3章 栈和队列</vt:lpstr>
      <vt:lpstr>栈的定义</vt:lpstr>
      <vt:lpstr>常见误区与对比</vt:lpstr>
      <vt:lpstr>出栈序列示意图</vt:lpstr>
      <vt:lpstr>备用页：拓展阅读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Lingxiao Yin</dc:creator>
  <cp:lastModifiedBy>Lingxiao Yin</cp:lastModifiedBy>
  <cp:revision>1</cp:revision>
  <dcterms:created xsi:type="dcterms:W3CDTF">2026-10-23T07:19:43Z</dcterms:created>
  <dcterms:modified xsi:type="dcterms:W3CDTF">2026-10-23T07:19:43Z</dcterms:modified>
</cp:coreProperties>
</file>